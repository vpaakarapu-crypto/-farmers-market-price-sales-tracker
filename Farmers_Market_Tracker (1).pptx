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3" r:id="rId24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7.xml"/><Relationship Id="rId24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vpaakarapu-crypto/-Farmers-Market-Price-Sales-Tracker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B342C"/>
                </a:solidFill>
                <a:latin typeface="Poppins"/>
              </a:rPr>
              <a:t>CO3 — ArrayList and File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3F7D58"/>
                </a:solidFill>
                <a:latin typeface="Poppins"/>
              </a:rPr>
              <a:t>Runtime flexibility with simple local persistence.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777240" cy="45720"/>
          </a:xfrm>
          <a:prstGeom prst="rect">
            <a:avLst/>
          </a:prstGeom>
          <a:solidFill>
            <a:srgbClr val="C06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6217920" cy="1371600"/>
          </a:xfrm>
          <a:prstGeom prst="rect">
            <a:avLst/>
          </a:prstGeom>
          <a:solidFill>
            <a:srgbClr val="1B3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B9D87A"/>
                </a:solidFill>
                <a:latin typeface="Poppins"/>
              </a:rPr>
              <a:t>FILE METHODS IN main()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2F2E6"/>
                </a:solidFill>
                <a:latin typeface="Consolas"/>
              </a:rPr>
              <a:t>loadFromFile();   // Files.newBufferedReader(file)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2F2E6"/>
                </a:solidFill>
                <a:latin typeface="Consolas"/>
              </a:rPr>
              <a:t>saveToFile();     // Files.newBufferedWriter(file)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62179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B342C"/>
                </a:solidFill>
                <a:latin typeface="Poppins"/>
              </a:rPr>
              <a:t>ArrayList&lt;Product&gt; stores products while the app runs. products.txt restores them at launch and saves them on exit.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3F7D58"/>
                </a:solidFill>
                <a:latin typeface="Poppins"/>
              </a:rPr>
              <a:t>ONE LINE IN products.txt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074920"/>
            <a:ext cx="62179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184648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B342C"/>
                </a:solidFill>
                <a:latin typeface="Consolas"/>
              </a:rPr>
              <a:t>mango,100.0,20.0,0.0</a:t>
            </a:r>
            <a:r>
              <a:rPr sz="1100" b="0">
                <a:solidFill>
                  <a:srgbClr val="3F7D58"/>
                </a:solidFill>
                <a:latin typeface="Poppins"/>
              </a:rPr>
              <a:t>   (name, price, stock, sold)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920240"/>
            <a:ext cx="3840480" cy="640080"/>
          </a:xfrm>
          <a:prstGeom prst="roundRect">
            <a:avLst/>
          </a:prstGeom>
          <a:solidFill>
            <a:srgbClr val="E6D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B342C"/>
                </a:solidFill>
                <a:latin typeface="Poppins"/>
              </a:rPr>
              <a:t>products.txt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56032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06C40"/>
                </a:solidFill>
                <a:latin typeface="Poppin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2880360"/>
            <a:ext cx="384048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B342C"/>
                </a:solidFill>
                <a:latin typeface="Poppins"/>
              </a:rPr>
              <a:t>loadFromFile()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5204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06C40"/>
                </a:solidFill>
                <a:latin typeface="Poppins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3840480"/>
            <a:ext cx="3840480" cy="640080"/>
          </a:xfrm>
          <a:prstGeom prst="roundRect">
            <a:avLst/>
          </a:prstGeom>
          <a:solidFill>
            <a:srgbClr val="B9D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B342C"/>
                </a:solidFill>
                <a:latin typeface="Poppins"/>
              </a:rPr>
              <a:t>ArrayList&lt;Product&gt;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48056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06C40"/>
                </a:solidFill>
                <a:latin typeface="Poppins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4800600"/>
            <a:ext cx="384048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B342C"/>
                </a:solidFill>
                <a:latin typeface="Poppins"/>
              </a:rPr>
              <a:t>saveToFile()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57607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F7D58"/>
                </a:solidFill>
                <a:latin typeface="Poppins"/>
              </a:rPr>
              <a:t>saveToFile() writes back to products.txt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B342C"/>
                </a:solidFill>
                <a:latin typeface="Poppins"/>
              </a:rPr>
              <a:t>CO4 — Exception Handling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3F7D58"/>
                </a:solidFill>
                <a:latin typeface="Poppins"/>
              </a:rPr>
              <a:t>Defensive input handling keeps execution stable and records trustworthy.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777240" cy="45720"/>
          </a:xfrm>
          <a:prstGeom prst="rect">
            <a:avLst/>
          </a:prstGeom>
          <a:solidFill>
            <a:srgbClr val="C06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6583680" cy="2148840"/>
          </a:xfrm>
          <a:prstGeom prst="rect">
            <a:avLst/>
          </a:prstGeom>
          <a:solidFill>
            <a:srgbClr val="1B3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B9D87A"/>
                </a:solidFill>
                <a:latin typeface="Poppins"/>
              </a:rPr>
              <a:t>readDouble() — INPUT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60350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2F2E6"/>
                </a:solidFill>
                <a:latin typeface="Consolas"/>
              </a:rPr>
              <a:t>try {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2F2E6"/>
                </a:solidFill>
                <a:latin typeface="Consolas"/>
              </a:rPr>
              <a:t>    return Double.parseDouble(sc.nextLine().trim());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2F2E6"/>
                </a:solidFill>
                <a:latin typeface="Consolas"/>
              </a:rPr>
              <a:t>} catch (NumberFormatException e) {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2F2E6"/>
                </a:solidFill>
                <a:latin typeface="Consolas"/>
              </a:rPr>
              <a:t>    System.out.println("Please enter a valid number.");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2F2E6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251960"/>
            <a:ext cx="6583680" cy="1600200"/>
          </a:xfrm>
          <a:prstGeom prst="rect">
            <a:avLst/>
          </a:prstGeom>
          <a:solidFill>
            <a:srgbClr val="1B3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3484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B9D87A"/>
                </a:solidFill>
                <a:latin typeface="Poppins"/>
              </a:rPr>
              <a:t>sell() — CUSTOM EXCEPTION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6035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F2F2E6"/>
                </a:solidFill>
                <a:latin typeface="Consolas"/>
              </a:rPr>
              <a:t>if (kg &gt; stock) {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2F2E6"/>
                </a:solidFill>
                <a:latin typeface="Consolas"/>
              </a:rPr>
              <a:t>    throw new InsufficientStockException("Not enough stock.");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2F2E6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920240"/>
            <a:ext cx="39319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100" b="1">
                <a:solidFill>
                  <a:srgbClr val="3F7D58"/>
                </a:solidFill>
                <a:latin typeface="Poppins"/>
              </a:rPr>
              <a:t>PREVENTS CRASHES</a:t>
            </a:r>
          </a:p>
          <a:p>
            <a:r>
              <a:rPr sz="1400" b="0">
                <a:solidFill>
                  <a:srgbClr val="1B342C"/>
                </a:solidFill>
                <a:latin typeface="Poppins"/>
              </a:rPr>
              <a:t>Bad input becomes a retry.</a:t>
            </a:r>
          </a:p>
          <a:p>
            <a:pPr>
              <a:spcBef>
                <a:spcPts val="1400"/>
              </a:spcBef>
            </a:pPr>
            <a:r>
              <a:rPr sz="1100" b="1">
                <a:solidFill>
                  <a:srgbClr val="3F7D58"/>
                </a:solidFill>
                <a:latin typeface="Poppins"/>
              </a:rPr>
              <a:t>PROTECTS INTEGRITY</a:t>
            </a:r>
          </a:p>
          <a:p>
            <a:r>
              <a:rPr sz="1400" b="0">
                <a:solidFill>
                  <a:srgbClr val="1B342C"/>
                </a:solidFill>
                <a:latin typeface="Poppins"/>
              </a:rPr>
              <a:t>Positive quantities and non-empty names.</a:t>
            </a:r>
          </a:p>
          <a:p>
            <a:pPr>
              <a:spcBef>
                <a:spcPts val="1400"/>
              </a:spcBef>
            </a:pPr>
            <a:r>
              <a:rPr sz="1100" b="1">
                <a:solidFill>
                  <a:srgbClr val="3F7D58"/>
                </a:solidFill>
                <a:latin typeface="Poppins"/>
              </a:rPr>
              <a:t>CUSTOM EXCEPTION</a:t>
            </a:r>
          </a:p>
          <a:p>
            <a:r>
              <a:rPr sz="1400" b="0">
                <a:solidFill>
                  <a:srgbClr val="1B342C"/>
                </a:solidFill>
                <a:latin typeface="Poppins"/>
              </a:rPr>
              <a:t>InsufficientStockException stops a sale larger than the stock.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F7D58"/>
                </a:solidFill>
                <a:latin typeface="Poppins"/>
              </a:rPr>
              <a:t>Also handle IOException around file operations.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54864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4600" b="0">
                <a:solidFill>
                  <a:srgbClr val="2A4030"/>
                </a:solidFill>
                <a:latin typeface="Anton"/>
              </a:rPr>
              <a:t>CO5 – Strings</a:t>
            </a:r>
          </a:p>
          <a:p>
            <a:pPr>
              <a:lnSpc>
                <a:spcPct val="90000"/>
              </a:lnSpc>
            </a:pPr>
            <a:r>
              <a:rPr sz="4600" b="0">
                <a:solidFill>
                  <a:srgbClr val="2A4030"/>
                </a:solidFill>
                <a:latin typeface="Anton"/>
              </a:rPr>
              <a:t>and File I/O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31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7A8660"/>
                </a:solidFill>
                <a:latin typeface="Poppins"/>
              </a:rPr>
              <a:t>STRINGS AND TEXT-FILE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512064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2F4932"/>
                </a:solidFill>
                <a:latin typeface="Poppins"/>
              </a:rPr>
              <a:t/>
            </a:r>
            <a:r>
              <a:rPr sz="1700" b="1">
                <a:solidFill>
                  <a:srgbClr val="2A4030"/>
                </a:solidFill>
                <a:latin typeface="Consolas"/>
              </a:rPr>
              <a:t>trim()</a:t>
            </a:r>
            <a:r>
              <a:rPr sz="1700" b="0">
                <a:solidFill>
                  <a:srgbClr val="2F4932"/>
                </a:solidFill>
                <a:latin typeface="Poppins"/>
              </a:rPr>
              <a:t> and </a:t>
            </a:r>
            <a:r>
              <a:rPr sz="1700" b="1">
                <a:solidFill>
                  <a:srgbClr val="2A4030"/>
                </a:solidFill>
                <a:latin typeface="Consolas"/>
              </a:rPr>
              <a:t>split()</a:t>
            </a:r>
            <a:r>
              <a:rPr sz="1700" b="0">
                <a:solidFill>
                  <a:srgbClr val="2F4932"/>
                </a:solidFill>
                <a:latin typeface="Poppins"/>
              </a:rPr>
              <a:t> process strings.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F4932"/>
                </a:solidFill>
                <a:latin typeface="Poppins"/>
              </a:rPr>
              <a:t/>
            </a:r>
            <a:r>
              <a:rPr sz="1700" b="1">
                <a:solidFill>
                  <a:srgbClr val="2A4030"/>
                </a:solidFill>
                <a:latin typeface="Consolas"/>
              </a:rPr>
              <a:t>equalsIgnoreCase()</a:t>
            </a:r>
            <a:r>
              <a:rPr sz="1700" b="0">
                <a:solidFill>
                  <a:srgbClr val="2F4932"/>
                </a:solidFill>
                <a:latin typeface="Poppins"/>
              </a:rPr>
              <a:t> searches product names without considering uppercase or lowercase.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F4932"/>
                </a:solidFill>
                <a:latin typeface="Poppins"/>
              </a:rPr>
              <a:t/>
            </a:r>
            <a:r>
              <a:rPr sz="1700" b="1">
                <a:solidFill>
                  <a:srgbClr val="2A4030"/>
                </a:solidFill>
                <a:latin typeface="Consolas"/>
              </a:rPr>
              <a:t>BufferedReader</a:t>
            </a:r>
            <a:r>
              <a:rPr sz="1700" b="0">
                <a:solidFill>
                  <a:srgbClr val="2F4932"/>
                </a:solidFill>
                <a:latin typeface="Poppins"/>
              </a:rPr>
              <a:t> and </a:t>
            </a:r>
            <a:r>
              <a:rPr sz="1700" b="1">
                <a:solidFill>
                  <a:srgbClr val="2A4030"/>
                </a:solidFill>
                <a:latin typeface="Consolas"/>
              </a:rPr>
              <a:t>BufferedWriter</a:t>
            </a:r>
            <a:r>
              <a:rPr sz="1700" b="0">
                <a:solidFill>
                  <a:srgbClr val="2F4932"/>
                </a:solidFill>
                <a:latin typeface="Poppins"/>
              </a:rPr>
              <a:t> read and write product data.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F4932"/>
                </a:solidFill>
                <a:latin typeface="Poppins"/>
              </a:rPr>
              <a:t>Exception handling manages file errors.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82296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A8D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0058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3F6B3A"/>
                </a:solidFill>
                <a:latin typeface="Poppins"/>
              </a:rPr>
              <a:t>CASE-INSENSITIVE SEARCH  •  findProduct()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371600"/>
            <a:ext cx="5120640" cy="1554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16301F"/>
                </a:solidFill>
                <a:latin typeface="Consolas"/>
              </a:rPr>
              <a:t>if (p.getName().equalsIgnoreCase(name)) {</a:t>
            </a:r>
          </a:p>
          <a:p>
            <a:r>
              <a:rPr sz="1600" b="1">
                <a:solidFill>
                  <a:srgbClr val="16301F"/>
                </a:solidFill>
                <a:latin typeface="Consolas"/>
              </a:rPr>
              <a:t>    return p;</a:t>
            </a:r>
          </a:p>
          <a:p>
            <a:r>
              <a:rPr sz="1600" b="1">
                <a:solidFill>
                  <a:srgbClr val="16301F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840480"/>
            <a:ext cx="1554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A4030"/>
                </a:solidFill>
                <a:latin typeface="Poppins"/>
              </a:rPr>
              <a:t>Load</a:t>
            </a:r>
          </a:p>
          <a:p>
            <a:pPr algn="ctr"/>
            <a:r>
              <a:rPr sz="1200" b="1">
                <a:solidFill>
                  <a:srgbClr val="2A4030"/>
                </a:solidFill>
                <a:latin typeface="Poppins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06908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F6B3A"/>
                </a:solidFill>
                <a:latin typeface="Poppin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3840480"/>
            <a:ext cx="1554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A4030"/>
                </a:solidFill>
                <a:latin typeface="Poppins"/>
              </a:rPr>
              <a:t>Process</a:t>
            </a:r>
          </a:p>
          <a:p>
            <a:pPr algn="ctr"/>
            <a:r>
              <a:rPr sz="1200" b="1">
                <a:solidFill>
                  <a:srgbClr val="2A4030"/>
                </a:solidFill>
                <a:latin typeface="Poppins"/>
              </a:rPr>
              <a:t>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406908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F6B3A"/>
                </a:solidFill>
                <a:latin typeface="Poppin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0" y="3840480"/>
            <a:ext cx="1554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A4030"/>
                </a:solidFill>
                <a:latin typeface="Poppins"/>
              </a:rPr>
              <a:t>Save</a:t>
            </a:r>
          </a:p>
          <a:p>
            <a:pPr algn="ctr"/>
            <a:r>
              <a:rPr sz="1200" b="1">
                <a:solidFill>
                  <a:srgbClr val="2A4030"/>
                </a:solidFill>
                <a:latin typeface="Poppins"/>
              </a:rPr>
              <a:t>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54864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4600" b="0">
                <a:solidFill>
                  <a:srgbClr val="2A4030"/>
                </a:solidFill>
                <a:latin typeface="Anton"/>
              </a:rPr>
              <a:t>CO6 –</a:t>
            </a:r>
          </a:p>
          <a:p>
            <a:pPr>
              <a:lnSpc>
                <a:spcPct val="90000"/>
              </a:lnSpc>
            </a:pPr>
            <a:r>
              <a:rPr sz="4600" b="0">
                <a:solidFill>
                  <a:srgbClr val="2A4030"/>
                </a:solidFill>
                <a:latin typeface="Anton"/>
              </a:rPr>
              <a:t>Collections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31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7A8660"/>
                </a:solidFill>
                <a:latin typeface="Poppins"/>
              </a:rPr>
              <a:t>USING JAVA COLLECTIONS EFFECTIVELY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512064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2F4932"/>
                </a:solidFill>
                <a:latin typeface="Poppins"/>
              </a:rPr>
              <a:t/>
            </a:r>
            <a:r>
              <a:rPr sz="1700" b="1">
                <a:solidFill>
                  <a:srgbClr val="2A4030"/>
                </a:solidFill>
                <a:latin typeface="Consolas"/>
              </a:rPr>
              <a:t>ArrayList&lt;Product&gt;</a:t>
            </a:r>
            <a:r>
              <a:rPr sz="1700" b="0">
                <a:solidFill>
                  <a:srgbClr val="2F4932"/>
                </a:solidFill>
                <a:latin typeface="Poppins"/>
              </a:rPr>
              <a:t> stores product objects dynamically.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F4932"/>
                </a:solidFill>
                <a:latin typeface="Poppins"/>
              </a:rPr>
              <a:t>Generics provide type safety.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F4932"/>
                </a:solidFill>
                <a:latin typeface="Poppins"/>
              </a:rPr>
              <a:t/>
            </a:r>
            <a:r>
              <a:rPr sz="1700" b="1">
                <a:solidFill>
                  <a:srgbClr val="2A4030"/>
                </a:solidFill>
                <a:latin typeface="Consolas"/>
              </a:rPr>
              <a:t>add()</a:t>
            </a:r>
            <a:r>
              <a:rPr sz="1700" b="0">
                <a:solidFill>
                  <a:srgbClr val="2F4932"/>
                </a:solidFill>
                <a:latin typeface="Poppins"/>
              </a:rPr>
              <a:t>, </a:t>
            </a:r>
            <a:r>
              <a:rPr sz="1700" b="1">
                <a:solidFill>
                  <a:srgbClr val="2A4030"/>
                </a:solidFill>
                <a:latin typeface="Consolas"/>
              </a:rPr>
              <a:t>size()</a:t>
            </a:r>
            <a:r>
              <a:rPr sz="1700" b="0">
                <a:solidFill>
                  <a:srgbClr val="2F4932"/>
                </a:solidFill>
                <a:latin typeface="Poppins"/>
              </a:rPr>
              <a:t>, and </a:t>
            </a:r>
            <a:r>
              <a:rPr sz="1700" b="1">
                <a:solidFill>
                  <a:srgbClr val="2A4030"/>
                </a:solidFill>
                <a:latin typeface="Consolas"/>
              </a:rPr>
              <a:t>isEmpty()</a:t>
            </a:r>
            <a:r>
              <a:rPr sz="1700" b="0">
                <a:solidFill>
                  <a:srgbClr val="2F4932"/>
                </a:solidFill>
                <a:latin typeface="Poppins"/>
              </a:rPr>
              <a:t> manage the product list.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F4932"/>
                </a:solidFill>
                <a:latin typeface="Poppins"/>
              </a:rPr>
              <a:t>Enhanced </a:t>
            </a:r>
            <a:r>
              <a:rPr sz="1700" b="1">
                <a:solidFill>
                  <a:srgbClr val="2A4030"/>
                </a:solidFill>
                <a:latin typeface="Consolas"/>
              </a:rPr>
              <a:t>for</a:t>
            </a:r>
            <a:r>
              <a:rPr sz="1700" b="0">
                <a:solidFill>
                  <a:srgbClr val="2F4932"/>
                </a:solidFill>
                <a:latin typeface="Poppins"/>
              </a:rPr>
              <a:t> loops process product objects.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822960"/>
            <a:ext cx="5760720" cy="2286000"/>
          </a:xfrm>
          <a:prstGeom prst="roundRect">
            <a:avLst>
              <a:gd name="adj" fmla="val 6000"/>
            </a:avLst>
          </a:prstGeom>
          <a:solidFill>
            <a:srgbClr val="A8D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0" y="1005840"/>
            <a:ext cx="539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3F6B3A"/>
                </a:solidFill>
                <a:latin typeface="Poppins"/>
              </a:rPr>
              <a:t>PRODUCT LIST  •  declare and add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371600"/>
            <a:ext cx="5394959" cy="1554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16301F"/>
                </a:solidFill>
                <a:latin typeface="Consolas"/>
              </a:rPr>
              <a:t>static ArrayList&lt;Product&gt; products = new ArrayList&lt;&gt;();</a:t>
            </a:r>
          </a:p>
          <a:p>
            <a:r>
              <a:rPr sz="1300" b="1">
                <a:solidFill>
                  <a:srgbClr val="16301F"/>
                </a:solidFill>
                <a:latin typeface="Consolas"/>
              </a:rPr>
              <a:t> </a:t>
            </a:r>
          </a:p>
          <a:p>
            <a:r>
              <a:rPr sz="1300" b="1">
                <a:solidFill>
                  <a:srgbClr val="16301F"/>
                </a:solidFill>
                <a:latin typeface="Consolas"/>
              </a:rPr>
              <a:t>products.add(new Product(name, price, kg, 0));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3840480"/>
            <a:ext cx="57607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7A866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4023360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7A8660"/>
                </a:solidFill>
                <a:latin typeface="Poppins"/>
              </a:rPr>
              <a:t>FUTURE ENHANCEMENT (NOT IMPLEMENTED)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F4932"/>
                </a:solidFill>
                <a:latin typeface="Poppins"/>
              </a:rPr>
              <a:t>Streams and lambda expressions could simplify searching and reporting.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3400" b="1">
                <a:solidFill>
                  <a:srgbClr val="1B342C"/>
                </a:solidFill>
                <a:latin typeface="Calibri"/>
              </a:rPr>
              <a:t>Program Output: Add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500" b="0">
                <a:solidFill>
                  <a:srgbClr val="3F7D58"/>
                </a:solidFill>
                <a:latin typeface="Calibri"/>
              </a:rPr>
              <a:t>Option 1 stores each product with its price per kg and stock.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777240" cy="45720"/>
          </a:xfrm>
          <a:prstGeom prst="rect">
            <a:avLst/>
          </a:prstGeom>
          <a:solidFill>
            <a:srgbClr val="C06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_2026-10-16_111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83" y="1965960"/>
            <a:ext cx="4584481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26480"/>
            <a:ext cx="5272887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300" b="1">
                <a:solidFill>
                  <a:srgbClr val="3F7D58"/>
                </a:solidFill>
                <a:latin typeface="Calibri"/>
              </a:rPr>
              <a:t>Adding 'apple'</a:t>
            </a:r>
          </a:p>
        </p:txBody>
      </p:sp>
      <p:pic>
        <p:nvPicPr>
          <p:cNvPr id="7" name="Picture 6" descr="Screenshot_2026-10-16_1112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241" y="1965960"/>
            <a:ext cx="3569859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78727" y="6126480"/>
            <a:ext cx="5272887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300" b="1">
                <a:solidFill>
                  <a:srgbClr val="3F7D58"/>
                </a:solidFill>
                <a:latin typeface="Calibri"/>
              </a:rPr>
              <a:t>Adding 'mango'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3400" b="1">
                <a:solidFill>
                  <a:srgbClr val="1B342C"/>
                </a:solidFill>
                <a:latin typeface="Calibri"/>
              </a:rPr>
              <a:t>Program Output: View &amp;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500" b="0">
                <a:solidFill>
                  <a:srgbClr val="3F7D58"/>
                </a:solidFill>
                <a:latin typeface="Calibri"/>
              </a:rPr>
              <a:t>Options 2 and 3 list all products and find one by name, ignoring case.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777240" cy="45720"/>
          </a:xfrm>
          <a:prstGeom prst="rect">
            <a:avLst/>
          </a:prstGeom>
          <a:solidFill>
            <a:srgbClr val="C06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_2026-10-16_1112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033056"/>
            <a:ext cx="3393338" cy="18891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26480"/>
            <a:ext cx="3393338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300" b="1">
                <a:solidFill>
                  <a:srgbClr val="3F7D58"/>
                </a:solidFill>
                <a:latin typeface="Calibri"/>
              </a:rPr>
              <a:t>Menu choice 2</a:t>
            </a:r>
          </a:p>
        </p:txBody>
      </p:sp>
      <p:pic>
        <p:nvPicPr>
          <p:cNvPr id="7" name="Picture 6" descr="Screenshot_2026-10-16_1112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178" y="2887361"/>
            <a:ext cx="3393338" cy="2180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99178" y="6126480"/>
            <a:ext cx="3393338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300" b="1">
                <a:solidFill>
                  <a:srgbClr val="3F7D58"/>
                </a:solidFill>
                <a:latin typeface="Calibri"/>
              </a:rPr>
              <a:t>Product list</a:t>
            </a:r>
          </a:p>
        </p:txBody>
      </p:sp>
      <p:pic>
        <p:nvPicPr>
          <p:cNvPr id="9" name="Picture 8" descr="Screenshot_2026-10-16_1112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276" y="2241513"/>
            <a:ext cx="3393338" cy="34722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58276" y="6126480"/>
            <a:ext cx="3393338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300" b="1">
                <a:solidFill>
                  <a:srgbClr val="3F7D58"/>
                </a:solidFill>
                <a:latin typeface="Calibri"/>
              </a:rPr>
              <a:t>Search 'MANGO'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3400" b="1">
                <a:solidFill>
                  <a:srgbClr val="1B342C"/>
                </a:solidFill>
                <a:latin typeface="Calibri"/>
              </a:rPr>
              <a:t>Program Output: Sale, Report &amp; Exit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500" b="0">
                <a:solidFill>
                  <a:srgbClr val="3F7D58"/>
                </a:solidFill>
                <a:latin typeface="Calibri"/>
              </a:rPr>
              <a:t>Options 4, 5 and 6 record a sale, summarise sales and save on exit.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777240" cy="45720"/>
          </a:xfrm>
          <a:prstGeom prst="rect">
            <a:avLst/>
          </a:prstGeom>
          <a:solidFill>
            <a:srgbClr val="C06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_2026-10-16_1112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99037"/>
            <a:ext cx="3393338" cy="31572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26480"/>
            <a:ext cx="3393338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300" b="1">
                <a:solidFill>
                  <a:srgbClr val="3F7D58"/>
                </a:solidFill>
                <a:latin typeface="Calibri"/>
              </a:rPr>
              <a:t>Record sale</a:t>
            </a:r>
          </a:p>
        </p:txBody>
      </p:sp>
      <p:pic>
        <p:nvPicPr>
          <p:cNvPr id="7" name="Picture 6" descr="Screenshot_2026-10-16_1113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178" y="2245987"/>
            <a:ext cx="3393338" cy="34633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99178" y="6126480"/>
            <a:ext cx="3393338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300" b="1">
                <a:solidFill>
                  <a:srgbClr val="3F7D58"/>
                </a:solidFill>
                <a:latin typeface="Calibri"/>
              </a:rPr>
              <a:t>Sales report</a:t>
            </a:r>
          </a:p>
        </p:txBody>
      </p:sp>
      <p:pic>
        <p:nvPicPr>
          <p:cNvPr id="9" name="Picture 8" descr="Screenshot_2026-10-16_1113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276" y="2733105"/>
            <a:ext cx="3393338" cy="248906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58276" y="6126480"/>
            <a:ext cx="3393338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300" b="1">
                <a:solidFill>
                  <a:srgbClr val="3F7D58"/>
                </a:solidFill>
                <a:latin typeface="Calibri"/>
              </a:rPr>
              <a:t>Save and exit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B342C"/>
                </a:solidFill>
                <a:latin typeface="Poppins"/>
              </a:rPr>
              <a:t>Sales Reporting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3F7D58"/>
                </a:solidFill>
                <a:latin typeface="Poppins"/>
              </a:rPr>
              <a:t>One pass computes total sales, the best seller, and the most expensive product.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777240" cy="45720"/>
          </a:xfrm>
          <a:prstGeom prst="rect">
            <a:avLst/>
          </a:prstGeom>
          <a:solidFill>
            <a:srgbClr val="C06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5577840" cy="3840480"/>
          </a:xfrm>
          <a:prstGeom prst="rect">
            <a:avLst/>
          </a:prstGeom>
          <a:solidFill>
            <a:srgbClr val="1B3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B9D87A"/>
                </a:solidFill>
                <a:latin typeface="Poppins"/>
              </a:rPr>
              <a:t>SALES REPORT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50292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F2F2E6"/>
                </a:solidFill>
                <a:latin typeface="Consolas"/>
              </a:rPr>
              <a:t>===== SALES REPORT =====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2F2E6"/>
                </a:solidFill>
                <a:latin typeface="Consolas"/>
              </a:rPr>
              <a:t>Number of products: 1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2F2E6"/>
                </a:solidFill>
                <a:latin typeface="Consolas"/>
              </a:rPr>
              <a:t>Total quantity sold: 10.0 kg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2F2E6"/>
                </a:solidFill>
                <a:latin typeface="Consolas"/>
              </a:rPr>
              <a:t>Total money earned: Rs.1000.0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2F2E6"/>
                </a:solidFill>
                <a:latin typeface="Consolas"/>
              </a:rPr>
              <a:t>Average price: Rs.100.0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2F2E6"/>
                </a:solidFill>
                <a:latin typeface="Consolas"/>
              </a:rPr>
              <a:t>Most expensive product: mango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2F2E6"/>
                </a:solidFill>
                <a:latin typeface="Consolas"/>
              </a:rPr>
              <a:t>Best selling product: mango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920240"/>
            <a:ext cx="48463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F7D58"/>
                </a:solidFill>
                <a:latin typeface="Poppins"/>
              </a:rPr>
              <a:t>REPORT LOGIC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06C40"/>
                </a:solidFill>
                <a:latin typeface="Poppins"/>
              </a:rPr>
              <a:t>1. </a:t>
            </a:r>
            <a:r>
              <a:rPr sz="1500" b="0">
                <a:solidFill>
                  <a:srgbClr val="1B342C"/>
                </a:solidFill>
                <a:latin typeface="Poppins"/>
              </a:rPr>
              <a:t>Loop through all products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06C40"/>
                </a:solidFill>
                <a:latin typeface="Poppins"/>
              </a:rPr>
              <a:t>2. </a:t>
            </a:r>
            <a:r>
              <a:rPr sz="1500" b="0">
                <a:solidFill>
                  <a:srgbClr val="1B342C"/>
                </a:solidFill>
                <a:latin typeface="Poppins"/>
              </a:rPr>
              <a:t>Add up sold kg and sold × price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06C40"/>
                </a:solidFill>
                <a:latin typeface="Poppins"/>
              </a:rPr>
              <a:t>3. </a:t>
            </a:r>
            <a:r>
              <a:rPr sz="1500" b="0">
                <a:solidFill>
                  <a:srgbClr val="1B342C"/>
                </a:solidFill>
                <a:latin typeface="Poppins"/>
              </a:rPr>
              <a:t>Average price = total price ÷ products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06C40"/>
                </a:solidFill>
                <a:latin typeface="Poppins"/>
              </a:rPr>
              <a:t>4. </a:t>
            </a:r>
            <a:r>
              <a:rPr sz="1500" b="0">
                <a:solidFill>
                  <a:srgbClr val="1B342C"/>
                </a:solidFill>
                <a:latin typeface="Poppins"/>
              </a:rPr>
              <a:t>Track the highest sold (best seller)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06C40"/>
                </a:solidFill>
                <a:latin typeface="Poppins"/>
              </a:rPr>
              <a:t>5. </a:t>
            </a:r>
            <a:r>
              <a:rPr sz="1500" b="0">
                <a:solidFill>
                  <a:srgbClr val="1B342C"/>
                </a:solidFill>
                <a:latin typeface="Poppins"/>
              </a:rPr>
              <a:t>Track the highest price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06C40"/>
                </a:solidFill>
                <a:latin typeface="Poppins"/>
              </a:rPr>
              <a:t>6. </a:t>
            </a:r>
            <a:r>
              <a:rPr sz="1500" b="0">
                <a:solidFill>
                  <a:srgbClr val="1B342C"/>
                </a:solidFill>
                <a:latin typeface="Poppins"/>
              </a:rPr>
              <a:t>Show “No sales yet” if nothing sold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B342C"/>
                </a:solidFill>
                <a:latin typeface="Poppins"/>
              </a:rPr>
              <a:t>Project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3F7D58"/>
                </a:solidFill>
                <a:latin typeface="Poppins"/>
              </a:rPr>
              <a:t>Complete source code and project files are available on GitHub.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777240" cy="45720"/>
          </a:xfrm>
          <a:prstGeom prst="rect">
            <a:avLst/>
          </a:prstGeom>
          <a:solidFill>
            <a:srgbClr val="C06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1088136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3F7D58"/>
                </a:solidFill>
                <a:latin typeface="Poppins"/>
              </a:rPr>
              <a:t>GITHUB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10149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5FA8"/>
                </a:solidFill>
                <a:latin typeface="Poppins"/>
                <a:hlinkClick r:id="rId2"/>
              </a:rPr>
              <a:t>https://github.com/vpaakarapu-crypto/-Farmers-Market-Price-Sales-Tracker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